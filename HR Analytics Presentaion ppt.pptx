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4847244-23B7-4795-8E71-D26581CDEC16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0447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157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91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292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770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781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08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2465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955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3725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129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4847244-23B7-4795-8E71-D26581CDEC16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13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FA8170-E0F2-485F-8C41-2F684B3B3353}"/>
              </a:ext>
            </a:extLst>
          </p:cNvPr>
          <p:cNvSpPr txBox="1"/>
          <p:nvPr/>
        </p:nvSpPr>
        <p:spPr>
          <a:xfrm>
            <a:off x="957363" y="5299243"/>
            <a:ext cx="64904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Project Presentation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AC8DC0-D6BF-8FA5-62DA-3FB00DA460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980" y="335366"/>
            <a:ext cx="5978105" cy="39835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B7212B-7BEC-4BC0-2814-2685BC4B1491}"/>
              </a:ext>
            </a:extLst>
          </p:cNvPr>
          <p:cNvSpPr txBox="1"/>
          <p:nvPr/>
        </p:nvSpPr>
        <p:spPr>
          <a:xfrm>
            <a:off x="8514272" y="5299242"/>
            <a:ext cx="34419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G</a:t>
            </a:r>
            <a:r>
              <a:rPr lang="en-IN" sz="44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roup</a:t>
            </a:r>
            <a:r>
              <a:rPr lang="en-IN" sz="4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4</a:t>
            </a:r>
          </a:p>
        </p:txBody>
      </p:sp>
    </p:spTree>
    <p:extLst>
      <p:ext uri="{BB962C8B-B14F-4D97-AF65-F5344CB8AC3E}">
        <p14:creationId xmlns:p14="http://schemas.microsoft.com/office/powerpoint/2010/main" val="727385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77AC93-8CEB-4831-9658-70875591FD2D}"/>
              </a:ext>
            </a:extLst>
          </p:cNvPr>
          <p:cNvSpPr/>
          <p:nvPr/>
        </p:nvSpPr>
        <p:spPr>
          <a:xfrm>
            <a:off x="5020235" y="304800"/>
            <a:ext cx="2088777" cy="62752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Datasets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EE7D0-913B-48AD-B82F-0E6B3078E7A2}"/>
              </a:ext>
            </a:extLst>
          </p:cNvPr>
          <p:cNvSpPr txBox="1"/>
          <p:nvPr/>
        </p:nvSpPr>
        <p:spPr>
          <a:xfrm>
            <a:off x="1541930" y="1506071"/>
            <a:ext cx="987910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Domain : HR 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Project Name: Employee Attrition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Dataset Name: HR_1 &amp; HR_2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Dataset Type: Excel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Dataset Size: 50k records each</a:t>
            </a:r>
          </a:p>
        </p:txBody>
      </p:sp>
    </p:spTree>
    <p:extLst>
      <p:ext uri="{BB962C8B-B14F-4D97-AF65-F5344CB8AC3E}">
        <p14:creationId xmlns:p14="http://schemas.microsoft.com/office/powerpoint/2010/main" val="2309535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578BB5C-3AC2-487C-8932-529ABA1B195B}"/>
              </a:ext>
            </a:extLst>
          </p:cNvPr>
          <p:cNvSpPr/>
          <p:nvPr/>
        </p:nvSpPr>
        <p:spPr>
          <a:xfrm>
            <a:off x="5253319" y="197223"/>
            <a:ext cx="1864658" cy="6454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KPI’s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2308F-C161-4EA2-9B50-5081F8A3213D}"/>
              </a:ext>
            </a:extLst>
          </p:cNvPr>
          <p:cNvSpPr txBox="1"/>
          <p:nvPr/>
        </p:nvSpPr>
        <p:spPr>
          <a:xfrm>
            <a:off x="1021300" y="1582340"/>
            <a:ext cx="1123277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Average Attrition rate for all Departments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Average Hourly rate of Male Research Scientist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Attrition rate Vs Monthly income stats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Average working years for each Department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Job Role Vs Work life balance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+mj-lt"/>
              </a:rPr>
              <a:t>Attrition rate Vs Year since last promotion relation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23493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6C77B-C89D-86D4-A535-92F62B0DC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389" y="848205"/>
            <a:ext cx="10170543" cy="713176"/>
          </a:xfrm>
        </p:spPr>
        <p:txBody>
          <a:bodyPr>
            <a:normAutofit fontScale="90000"/>
          </a:bodyPr>
          <a:lstStyle/>
          <a:p>
            <a:r>
              <a:rPr lang="en-GB" dirty="0"/>
              <a:t>Dashboard Overview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213856-77AB-D137-BF29-5A50BD5483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551" y="1463970"/>
            <a:ext cx="7524872" cy="533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549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81CBA-3BA5-DCB6-4F86-DE393DBA6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Additional KPI Cards for broader understanding</a:t>
            </a:r>
            <a:endParaRPr lang="en-IN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A9A57D-69F3-EEBC-A23D-41832F5486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917" y="1873813"/>
            <a:ext cx="2441275" cy="46781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0E13F2-3D89-7BE2-3856-96C734B81002}"/>
              </a:ext>
            </a:extLst>
          </p:cNvPr>
          <p:cNvSpPr txBox="1"/>
          <p:nvPr/>
        </p:nvSpPr>
        <p:spPr>
          <a:xfrm>
            <a:off x="5139186" y="2084832"/>
            <a:ext cx="4140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/>
              <a:t>Total Employees &amp; Workforce Profile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0B1B0A-7CA2-F015-8B0C-34CE74EE72DC}"/>
              </a:ext>
            </a:extLst>
          </p:cNvPr>
          <p:cNvSpPr txBox="1"/>
          <p:nvPr/>
        </p:nvSpPr>
        <p:spPr>
          <a:xfrm>
            <a:off x="4399472" y="2716693"/>
            <a:ext cx="46065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• </a:t>
            </a:r>
            <a:r>
              <a:rPr lang="en-GB" b="1" dirty="0"/>
              <a:t>Total Employees</a:t>
            </a:r>
            <a:r>
              <a:rPr lang="en-GB" dirty="0"/>
              <a:t>: 50,000</a:t>
            </a:r>
          </a:p>
          <a:p>
            <a:r>
              <a:rPr lang="en-GB" dirty="0"/>
              <a:t>• </a:t>
            </a:r>
            <a:r>
              <a:rPr lang="en-GB" b="1" dirty="0"/>
              <a:t>Average Employee Age</a:t>
            </a:r>
            <a:r>
              <a:rPr lang="en-GB" dirty="0"/>
              <a:t>: 39 years</a:t>
            </a:r>
          </a:p>
          <a:p>
            <a:r>
              <a:rPr lang="en-GB" dirty="0"/>
              <a:t>• </a:t>
            </a:r>
            <a:r>
              <a:rPr lang="en-GB" b="1" dirty="0"/>
              <a:t>Average Hourly Rate</a:t>
            </a:r>
            <a:r>
              <a:rPr lang="en-GB" dirty="0"/>
              <a:t>: 115.4</a:t>
            </a:r>
          </a:p>
          <a:p>
            <a:r>
              <a:rPr lang="en-GB" dirty="0"/>
              <a:t>• </a:t>
            </a:r>
            <a:r>
              <a:rPr lang="en-GB" b="1" dirty="0"/>
              <a:t>Average Job Satisfaction</a:t>
            </a:r>
            <a:r>
              <a:rPr lang="en-GB" dirty="0"/>
              <a:t>: 2.49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3A57969-934C-A365-950F-166D5137AA4F}"/>
              </a:ext>
            </a:extLst>
          </p:cNvPr>
          <p:cNvSpPr txBox="1">
            <a:spLocks/>
          </p:cNvSpPr>
          <p:nvPr/>
        </p:nvSpPr>
        <p:spPr>
          <a:xfrm>
            <a:off x="4744528" y="3995082"/>
            <a:ext cx="5788325" cy="6154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600" dirty="0"/>
              <a:t> Average Hourly rate for Male Research Scientist</a:t>
            </a:r>
            <a:endParaRPr lang="en-IN" sz="3600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EE9C0D9-C61F-2E0E-12FB-21C48C1D7C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446" y="4507137"/>
            <a:ext cx="3941056" cy="204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863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8C342E-883D-658A-477E-3E7F2A92E6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128" y="1577761"/>
            <a:ext cx="6192114" cy="327705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71FECC2-0194-012E-F41C-443B7C79A35C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KPI 1 : Department wise Attrition Rate</a:t>
            </a:r>
            <a:endParaRPr lang="en-IN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9A8478E-3C96-3698-BBFF-FF527061FE0F}"/>
              </a:ext>
            </a:extLst>
          </p:cNvPr>
          <p:cNvSpPr txBox="1">
            <a:spLocks/>
          </p:cNvSpPr>
          <p:nvPr/>
        </p:nvSpPr>
        <p:spPr>
          <a:xfrm>
            <a:off x="990600" y="501491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dirty="0"/>
              <a:t>Key observation:</a:t>
            </a:r>
          </a:p>
          <a:p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Attrition rate is by and large very close to each other for each department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R&amp;D department shows the highest attrition rate as compared to other departments.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Such small margins among various dept does not concludes any single department as the cause of high attrition rate in the company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17622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FAB4-A25B-EF58-8C89-07B53C751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KPI 3 Attrition Rate vs Monthly Income</a:t>
            </a:r>
            <a:endParaRPr lang="en-IN" sz="4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07AFAD-1967-2C96-7854-0802B3D187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272" y="1690688"/>
            <a:ext cx="6192114" cy="307700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22E2AF7-59F9-A1ED-65F5-EDBC45931D1D}"/>
              </a:ext>
            </a:extLst>
          </p:cNvPr>
          <p:cNvSpPr txBox="1">
            <a:spLocks/>
          </p:cNvSpPr>
          <p:nvPr/>
        </p:nvSpPr>
        <p:spPr>
          <a:xfrm>
            <a:off x="990600" y="501491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dirty="0"/>
              <a:t>Key observation: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Attrition rate across all income bands is in the range from 50- 51%.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Employees with salary above 50 k bracket shows signs of highest attrition rate.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Attrition is not only salary-driven; career growth and role stress may play a role.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9937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41DC8-75F5-C98E-890E-3F80042FA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905540" cy="1105472"/>
          </a:xfrm>
        </p:spPr>
        <p:txBody>
          <a:bodyPr>
            <a:normAutofit/>
          </a:bodyPr>
          <a:lstStyle/>
          <a:p>
            <a:r>
              <a:rPr lang="en-GB" sz="4000" dirty="0"/>
              <a:t>KPI 4: Average of Total Working years for each department</a:t>
            </a:r>
            <a:endParaRPr lang="en-IN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8DDB00-1DDD-0FB3-AD4C-1F40D15F4D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0896" y="1690688"/>
            <a:ext cx="6325483" cy="307700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C18A8BA-DF6A-AA8B-AE92-3D649DC07DBA}"/>
              </a:ext>
            </a:extLst>
          </p:cNvPr>
          <p:cNvSpPr txBox="1">
            <a:spLocks/>
          </p:cNvSpPr>
          <p:nvPr/>
        </p:nvSpPr>
        <p:spPr>
          <a:xfrm>
            <a:off x="990600" y="501491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dirty="0"/>
              <a:t>Key observation:</a:t>
            </a:r>
          </a:p>
          <a:p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 Software &amp; Sales have highest average tenure (~20.6 years)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R&amp;D has the lowest (~20.3 years)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Lower tenure in R&amp;D aligns with higher attrition trend.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401814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B0C8B-F3CF-013B-1BB3-FBDF142CE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KPI 5:Work life Balance vs Job role</a:t>
            </a:r>
            <a:endParaRPr lang="en-IN" sz="4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650ED1-471F-1948-744C-07945AB47F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995" y="1587287"/>
            <a:ext cx="6154009" cy="325800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308B114-6603-A059-AAD6-5C635444F5D5}"/>
              </a:ext>
            </a:extLst>
          </p:cNvPr>
          <p:cNvSpPr txBox="1">
            <a:spLocks/>
          </p:cNvSpPr>
          <p:nvPr/>
        </p:nvSpPr>
        <p:spPr>
          <a:xfrm>
            <a:off x="990600" y="501491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dirty="0"/>
              <a:t>Key observation: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Lowest work-life balance: Sales Executive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Highest balance: Research Scientist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Sales-related roles may need workload and stress management initiatives.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922404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9D284-1647-2583-CA86-A498416B8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646747" cy="864048"/>
          </a:xfrm>
        </p:spPr>
        <p:txBody>
          <a:bodyPr/>
          <a:lstStyle/>
          <a:p>
            <a:r>
              <a:rPr lang="en-GB" sz="4000" dirty="0"/>
              <a:t>KPI 6 :Attrition Rate vs Years Since last Promotion</a:t>
            </a:r>
            <a:r>
              <a:rPr lang="en-GB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2D1E53-4A02-31EE-B528-C10393F2CB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7468" y="1449264"/>
            <a:ext cx="6344535" cy="325800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6B5AB22-F846-E4CB-2168-4C0F8D4177D4}"/>
              </a:ext>
            </a:extLst>
          </p:cNvPr>
          <p:cNvSpPr txBox="1">
            <a:spLocks/>
          </p:cNvSpPr>
          <p:nvPr/>
        </p:nvSpPr>
        <p:spPr>
          <a:xfrm>
            <a:off x="990600" y="501491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dirty="0"/>
              <a:t>Key observation: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Highest attrition at 3–5 years since last promotion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Lack of timely promotions strongly contributes to attrition.</a:t>
            </a:r>
          </a:p>
          <a:p>
            <a:r>
              <a:rPr lang="en-GB" sz="2000" dirty="0"/>
              <a:t>.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099242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2423-09E1-E092-012A-BF4B79566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/>
              <a:t>Overall</a:t>
            </a:r>
            <a:r>
              <a:rPr lang="en-IN" dirty="0"/>
              <a:t> Key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9614E-3724-4C2C-5DEC-378D33A08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Attrition is higher in technical and growth-driven roles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Promotion delays increase exit risk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Work-life balance varies significantly by role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Compensation alone is not the primary driver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9823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34A40-8341-F84A-091B-34A73EAB7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 to Reduce Attrition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C27E7-9F03-9E10-1FAB-6D0EB44CC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Introduce structured career progression &amp; promotion cycles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Improve employee engagement &amp; recognition programs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Enhance work-life balance for sales &amp; operational roles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Conduct stay interviews in high-risk departments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Upskill &amp; internal mobility opportunities for R&amp;D teams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6810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E34CE-F66F-11B5-8D64-5E2930513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Thank you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33971011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438</TotalTime>
  <Words>429</Words>
  <Application>Microsoft Office PowerPoint</Application>
  <PresentationFormat>Widescreen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 Light</vt:lpstr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Dashboard Overview</vt:lpstr>
      <vt:lpstr>Additional KPI Cards for broader understanding</vt:lpstr>
      <vt:lpstr>PowerPoint Presentation</vt:lpstr>
      <vt:lpstr>KPI 3 Attrition Rate vs Monthly Income</vt:lpstr>
      <vt:lpstr>KPI 4: Average of Total Working years for each department</vt:lpstr>
      <vt:lpstr>KPI 5:Work life Balance vs Job role</vt:lpstr>
      <vt:lpstr>KPI 6 :Attrition Rate vs Years Since last Promotion </vt:lpstr>
      <vt:lpstr>Overall Key Observations</vt:lpstr>
      <vt:lpstr>Recommendations to Reduce Attrition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Shubham Kabre</dc:creator>
  <cp:lastModifiedBy>Excel R</cp:lastModifiedBy>
  <cp:revision>38</cp:revision>
  <dcterms:created xsi:type="dcterms:W3CDTF">2022-01-08T11:53:28Z</dcterms:created>
  <dcterms:modified xsi:type="dcterms:W3CDTF">2026-02-12T11:20:02Z</dcterms:modified>
</cp:coreProperties>
</file>